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solidFill>
              <a:srgbClr val="0B1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32520" y="-731520"/>
            <a:ext cx="4023360" cy="4023360"/>
          </a:xfrm>
          <a:prstGeom prst="ellipse">
            <a:avLst/>
          </a:prstGeom>
          <a:solidFill>
            <a:srgbClr val="1E2A55"/>
          </a:solidFill>
          <a:ln>
            <a:solidFill>
              <a:srgbClr val="1E2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46920" y="137160"/>
            <a:ext cx="2286000" cy="2286000"/>
          </a:xfrm>
          <a:prstGeom prst="ellipse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314432" y="804672"/>
            <a:ext cx="960120" cy="960120"/>
          </a:xfrm>
          <a:prstGeom prst="ellipse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402336"/>
            <a:ext cx="6583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Aptos"/>
              </a:rPr>
              <a:t>Capabl</a:t>
            </a:r>
          </a:p>
        </p:txBody>
      </p:sp>
      <p:sp>
        <p:nvSpPr>
          <p:cNvPr id="7" name="Rectangle 6"/>
          <p:cNvSpPr/>
          <p:nvPr/>
        </p:nvSpPr>
        <p:spPr>
          <a:xfrm>
            <a:off x="1179576" y="452628"/>
            <a:ext cx="100584" cy="100584"/>
          </a:xfrm>
          <a:prstGeom prst="rect">
            <a:avLst/>
          </a:prstGeom>
          <a:solidFill>
            <a:srgbClr val="FFD400"/>
          </a:solidFill>
          <a:ln>
            <a:solidFill>
              <a:srgbClr val="FFD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234440"/>
            <a:ext cx="1508760" cy="283464"/>
          </a:xfrm>
          <a:prstGeom prst="roundRect">
            <a:avLst/>
          </a:prstGeom>
          <a:solidFill>
            <a:srgbClr val="222A42"/>
          </a:solidFill>
          <a:ln w="8890">
            <a:solidFill>
              <a:srgbClr val="2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239012"/>
            <a:ext cx="150876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A5B4FC"/>
                </a:solidFill>
                <a:latin typeface="Aptos"/>
              </a:rPr>
              <a:t>TEAM QUADCORE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719072"/>
            <a:ext cx="676656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900" b="1" i="0">
                <a:solidFill>
                  <a:srgbClr val="FFFFFF"/>
                </a:solidFill>
                <a:latin typeface="Aptos"/>
              </a:rPr>
              <a:t>Job Search
AI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3529584"/>
            <a:ext cx="612648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B7C0D8"/>
                </a:solidFill>
                <a:latin typeface="Aptos"/>
              </a:rPr>
              <a:t>A resume-aware career workspace for discovery, decisions and interview readiness.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680960" y="4572000"/>
            <a:ext cx="3200400" cy="0"/>
          </a:xfrm>
          <a:prstGeom prst="line">
            <a:avLst/>
          </a:prstGeom>
          <a:ln w="25400">
            <a:solidFill>
              <a:srgbClr val="4B5C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7507224" y="4398264"/>
            <a:ext cx="347472" cy="347472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07224" y="4402836"/>
            <a:ext cx="34747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4846320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A7B0C4"/>
                </a:solidFill>
                <a:latin typeface="Aptos"/>
              </a:rPr>
              <a:t>CV</a:t>
            </a:r>
          </a:p>
        </p:txBody>
      </p:sp>
      <p:sp>
        <p:nvSpPr>
          <p:cNvPr id="16" name="Oval 15"/>
          <p:cNvSpPr/>
          <p:nvPr/>
        </p:nvSpPr>
        <p:spPr>
          <a:xfrm>
            <a:off x="8558784" y="4398264"/>
            <a:ext cx="347472" cy="34747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58784" y="4402836"/>
            <a:ext cx="34747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4846320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A7B0C4"/>
                </a:solidFill>
                <a:latin typeface="Aptos"/>
              </a:rPr>
              <a:t>MATCH</a:t>
            </a:r>
          </a:p>
        </p:txBody>
      </p:sp>
      <p:sp>
        <p:nvSpPr>
          <p:cNvPr id="19" name="Oval 18"/>
          <p:cNvSpPr/>
          <p:nvPr/>
        </p:nvSpPr>
        <p:spPr>
          <a:xfrm>
            <a:off x="9747504" y="4398264"/>
            <a:ext cx="347472" cy="347472"/>
          </a:xfrm>
          <a:prstGeom prst="ellipse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47504" y="4402836"/>
            <a:ext cx="34747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0" y="4846320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A7B0C4"/>
                </a:solidFill>
                <a:latin typeface="Aptos"/>
              </a:rPr>
              <a:t>ACT</a:t>
            </a:r>
          </a:p>
        </p:txBody>
      </p:sp>
      <p:sp>
        <p:nvSpPr>
          <p:cNvPr id="22" name="Oval 21"/>
          <p:cNvSpPr/>
          <p:nvPr/>
        </p:nvSpPr>
        <p:spPr>
          <a:xfrm>
            <a:off x="10707624" y="4398264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707624" y="4402836"/>
            <a:ext cx="34747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69880" y="4846320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A7B0C4"/>
                </a:solidFill>
                <a:latin typeface="Aptos"/>
              </a:rPr>
              <a:t>READY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4983480"/>
            <a:ext cx="5760720" cy="1069848"/>
          </a:xfrm>
          <a:prstGeom prst="roundRect">
            <a:avLst/>
          </a:prstGeom>
          <a:solidFill>
            <a:srgbClr val="121B31"/>
          </a:solidFill>
          <a:ln w="12700">
            <a:solidFill>
              <a:srgbClr val="2A35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5285232"/>
            <a:ext cx="523036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Aptos"/>
              </a:rPr>
              <a:t>Gangadhar R  •  Gururaj S H  •  H M Akshay  •  Mallikarjunayya 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" y="5596128"/>
            <a:ext cx="52303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8792AD"/>
                </a:solidFill>
                <a:latin typeface="Aptos"/>
              </a:rPr>
              <a:t>Capabl project presentation  •  2-month build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537960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98A2B3"/>
                </a:solidFill>
                <a:latin typeface="Aptos"/>
              </a:rPr>
              <a:t>TEAM QUADCORE  •  JOB SEARCH AI AGENT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510528"/>
            <a:ext cx="3840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98A2B3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6583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11827"/>
                </a:solidFill>
                <a:latin typeface="Aptos"/>
              </a:rPr>
              <a:t>Capabl</a:t>
            </a:r>
          </a:p>
        </p:txBody>
      </p:sp>
      <p:sp>
        <p:nvSpPr>
          <p:cNvPr id="4" name="Rectangle 3"/>
          <p:cNvSpPr/>
          <p:nvPr/>
        </p:nvSpPr>
        <p:spPr>
          <a:xfrm>
            <a:off x="1115568" y="361188"/>
            <a:ext cx="100584" cy="100584"/>
          </a:xfrm>
          <a:prstGeom prst="rect">
            <a:avLst/>
          </a:prstGeom>
          <a:solidFill>
            <a:srgbClr val="FFD400"/>
          </a:solidFill>
          <a:ln>
            <a:solidFill>
              <a:srgbClr val="FFD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438912"/>
            <a:ext cx="1417320" cy="283464"/>
          </a:xfrm>
          <a:prstGeom prst="roundRect">
            <a:avLst/>
          </a:prstGeom>
          <a:solidFill>
            <a:srgbClr val="EEF2FF"/>
          </a:solidFill>
          <a:ln w="8890">
            <a:solidFill>
              <a:srgbClr val="EE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443484"/>
            <a:ext cx="141732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4F46E5"/>
                </a:solidFill>
                <a:latin typeface="Aptos"/>
              </a:rPr>
              <a:t>THE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868680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11827"/>
                </a:solidFill>
                <a:latin typeface="Aptos"/>
              </a:rPr>
              <a:t>The job search is a broken chain of context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1399032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0" b="0" i="0">
                <a:solidFill>
                  <a:srgbClr val="64748B"/>
                </a:solidFill>
                <a:latin typeface="Aptos"/>
              </a:rPr>
              <a:t>Candidates repeatedly translate the same experience across disconnected tools.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2057400"/>
            <a:ext cx="2523744" cy="1856231"/>
          </a:xfrm>
          <a:prstGeom prst="roundRect">
            <a:avLst/>
          </a:prstGeom>
          <a:solidFill>
            <a:srgbClr val="F5F7FB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2960" y="2267712"/>
            <a:ext cx="420624" cy="420624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272284"/>
            <a:ext cx="420624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798064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11827"/>
                </a:solidFill>
                <a:latin typeface="Aptos"/>
              </a:rPr>
              <a:t>Resume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182112"/>
            <a:ext cx="202996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4748B"/>
                </a:solidFill>
                <a:latin typeface="Aptos"/>
              </a:rPr>
              <a:t>Static PDF
Low feedback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798064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A8B1C1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74720" y="2057400"/>
            <a:ext cx="2523744" cy="1856231"/>
          </a:xfrm>
          <a:prstGeom prst="roundRect">
            <a:avLst/>
          </a:prstGeom>
          <a:solidFill>
            <a:srgbClr val="F5F7FB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75888" y="2267712"/>
            <a:ext cx="420624" cy="420624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75888" y="2272284"/>
            <a:ext cx="420624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75888" y="2798064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11827"/>
                </a:solidFill>
                <a:latin typeface="Aptos"/>
              </a:rPr>
              <a:t>Discovery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75888" y="3182112"/>
            <a:ext cx="202996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4748B"/>
                </a:solidFill>
                <a:latin typeface="Aptos"/>
              </a:rPr>
              <a:t>Generic lists
Manual filtering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53328" y="2798064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A8B1C1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2057400"/>
            <a:ext cx="2523744" cy="1856231"/>
          </a:xfrm>
          <a:prstGeom prst="roundRect">
            <a:avLst/>
          </a:prstGeom>
          <a:solidFill>
            <a:srgbClr val="F5F7FB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528816" y="2267712"/>
            <a:ext cx="420624" cy="420624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28816" y="2272284"/>
            <a:ext cx="420624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8816" y="2798064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11827"/>
                </a:solidFill>
                <a:latin typeface="Aptos"/>
              </a:rPr>
              <a:t>Application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8816" y="3182112"/>
            <a:ext cx="202996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4748B"/>
                </a:solidFill>
                <a:latin typeface="Aptos"/>
              </a:rPr>
              <a:t>Repeated tailoring
Scattered tracking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06256" y="2798064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A8B1C1"/>
                </a:solidFill>
                <a:latin typeface="Aptos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80576" y="2057400"/>
            <a:ext cx="2523744" cy="1856231"/>
          </a:xfrm>
          <a:prstGeom prst="roundRect">
            <a:avLst/>
          </a:prstGeom>
          <a:solidFill>
            <a:srgbClr val="F5F7FB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381744" y="2267712"/>
            <a:ext cx="420624" cy="42062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81744" y="2272284"/>
            <a:ext cx="420624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81744" y="2798064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11827"/>
                </a:solidFill>
                <a:latin typeface="Aptos"/>
              </a:rPr>
              <a:t>Interview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81744" y="3182112"/>
            <a:ext cx="202996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4748B"/>
                </a:solidFill>
                <a:latin typeface="Aptos"/>
              </a:rPr>
              <a:t>Generic practice
Late feedback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" y="4315968"/>
            <a:ext cx="10972800" cy="1408176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6112" y="4572000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4F46E5"/>
                </a:solidFill>
                <a:latin typeface="Aptos"/>
              </a:rPr>
              <a:t>PRODUCT THESIS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6112" y="4864608"/>
            <a:ext cx="99669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11827"/>
                </a:solidFill>
                <a:latin typeface="Aptos"/>
              </a:rPr>
              <a:t>Keep the resume as shared context—then use it to rank opportunities, guide applications and personalize preparation.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537960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64748B"/>
                </a:solidFill>
                <a:latin typeface="Aptos"/>
              </a:rPr>
              <a:t>TEAM QUADCORE  •  JOB SEARCH AI AGENT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92840" y="6510528"/>
            <a:ext cx="3840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64748B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6583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11827"/>
                </a:solidFill>
                <a:latin typeface="Aptos"/>
              </a:rPr>
              <a:t>Capabl</a:t>
            </a:r>
          </a:p>
        </p:txBody>
      </p:sp>
      <p:sp>
        <p:nvSpPr>
          <p:cNvPr id="4" name="Rectangle 3"/>
          <p:cNvSpPr/>
          <p:nvPr/>
        </p:nvSpPr>
        <p:spPr>
          <a:xfrm>
            <a:off x="1115568" y="361188"/>
            <a:ext cx="100584" cy="100584"/>
          </a:xfrm>
          <a:prstGeom prst="rect">
            <a:avLst/>
          </a:prstGeom>
          <a:solidFill>
            <a:srgbClr val="FFD400"/>
          </a:solidFill>
          <a:ln>
            <a:solidFill>
              <a:srgbClr val="FFD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438912"/>
            <a:ext cx="1417320" cy="283464"/>
          </a:xfrm>
          <a:prstGeom prst="roundRect">
            <a:avLst/>
          </a:prstGeom>
          <a:solidFill>
            <a:srgbClr val="EEF2FF"/>
          </a:solidFill>
          <a:ln w="8890">
            <a:solidFill>
              <a:srgbClr val="EE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443484"/>
            <a:ext cx="141732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4F46E5"/>
                </a:solidFill>
                <a:latin typeface="Aptos"/>
              </a:rPr>
              <a:t>PRODUCT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868680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11827"/>
                </a:solidFill>
                <a:latin typeface="Aptos"/>
              </a:rPr>
              <a:t>One workspace. Four connected decisions.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1399032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0" b="0" i="0">
                <a:solidFill>
                  <a:srgbClr val="64748B"/>
                </a:solidFill>
                <a:latin typeface="Aptos"/>
              </a:rPr>
              <a:t>The React experience turns a resume into a continuous career workflow.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2084831"/>
            <a:ext cx="2487168" cy="3310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" y="2084831"/>
            <a:ext cx="2487168" cy="109728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2441448"/>
            <a:ext cx="502920" cy="502920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446020"/>
            <a:ext cx="50292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182112"/>
            <a:ext cx="1965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2563EB"/>
                </a:solidFill>
                <a:latin typeface="Aptos"/>
              </a:rPr>
              <a:t>UNDERSTAND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493008"/>
            <a:ext cx="196596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11827"/>
                </a:solidFill>
                <a:latin typeface="Aptos"/>
              </a:rPr>
              <a:t>Upload a PDF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160520"/>
            <a:ext cx="1993392" cy="758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0" b="0" i="0">
                <a:solidFill>
                  <a:srgbClr val="64748B"/>
                </a:solidFill>
                <a:latin typeface="Aptos"/>
              </a:rPr>
              <a:t>Extract skills, experience, education and an ATS health score.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919472"/>
            <a:ext cx="1581912" cy="283464"/>
          </a:xfrm>
          <a:prstGeom prst="roundRect">
            <a:avLst/>
          </a:prstGeom>
          <a:solidFill>
            <a:srgbClr val="F5F7FB"/>
          </a:solidFill>
          <a:ln w="8890">
            <a:solidFill>
              <a:srgbClr val="F5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924044"/>
            <a:ext cx="1581912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1" i="0">
                <a:solidFill>
                  <a:srgbClr val="475569"/>
                </a:solidFill>
                <a:latin typeface="Aptos"/>
              </a:rPr>
              <a:t>PDF → PROFILE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74720" y="2084831"/>
            <a:ext cx="2487168" cy="3310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474720" y="2084831"/>
            <a:ext cx="2487168" cy="109728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675888" y="2441448"/>
            <a:ext cx="502920" cy="50292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75888" y="2446020"/>
            <a:ext cx="50292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75888" y="3182112"/>
            <a:ext cx="1965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7C3AED"/>
                </a:solidFill>
                <a:latin typeface="Aptos"/>
              </a:rPr>
              <a:t>DISCOVER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75888" y="3493008"/>
            <a:ext cx="196596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11827"/>
                </a:solidFill>
                <a:latin typeface="Aptos"/>
              </a:rPr>
              <a:t>Find better-fit roles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75888" y="4160520"/>
            <a:ext cx="1993392" cy="758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0" b="0" i="0">
                <a:solidFill>
                  <a:srgbClr val="64748B"/>
                </a:solidFill>
                <a:latin typeface="Aptos"/>
              </a:rPr>
              <a:t>Search live listings and rank results against the selected resume.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75888" y="4919472"/>
            <a:ext cx="1581912" cy="283464"/>
          </a:xfrm>
          <a:prstGeom prst="roundRect">
            <a:avLst/>
          </a:prstGeom>
          <a:solidFill>
            <a:srgbClr val="F5F7FB"/>
          </a:solidFill>
          <a:ln w="8890">
            <a:solidFill>
              <a:srgbClr val="F5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75888" y="4924044"/>
            <a:ext cx="1581912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1" i="0">
                <a:solidFill>
                  <a:srgbClr val="475569"/>
                </a:solidFill>
                <a:latin typeface="Aptos"/>
              </a:rPr>
              <a:t>QUERY → RANK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27648" y="2084831"/>
            <a:ext cx="2487168" cy="3310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27648" y="2084831"/>
            <a:ext cx="2487168" cy="109728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528816" y="2441448"/>
            <a:ext cx="502920" cy="50292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28816" y="2446020"/>
            <a:ext cx="50292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8816" y="3182112"/>
            <a:ext cx="1965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F59E0B"/>
                </a:solidFill>
                <a:latin typeface="Aptos"/>
              </a:rPr>
              <a:t>ACT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8816" y="3493008"/>
            <a:ext cx="196596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11827"/>
                </a:solidFill>
                <a:latin typeface="Aptos"/>
              </a:rPr>
              <a:t>Move applications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28816" y="4160520"/>
            <a:ext cx="1993392" cy="758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0" b="0" i="0">
                <a:solidFill>
                  <a:srgbClr val="64748B"/>
                </a:solidFill>
                <a:latin typeface="Aptos"/>
              </a:rPr>
              <a:t>Save jobs, add notes and move them through a visual pipeline.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28816" y="4919472"/>
            <a:ext cx="1581912" cy="283464"/>
          </a:xfrm>
          <a:prstGeom prst="roundRect">
            <a:avLst/>
          </a:prstGeom>
          <a:solidFill>
            <a:srgbClr val="F5F7FB"/>
          </a:solidFill>
          <a:ln w="8890">
            <a:solidFill>
              <a:srgbClr val="F5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28816" y="4924044"/>
            <a:ext cx="1581912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1" i="0">
                <a:solidFill>
                  <a:srgbClr val="475569"/>
                </a:solidFill>
                <a:latin typeface="Aptos"/>
              </a:rPr>
              <a:t>SAVE → STATUS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80576" y="2084831"/>
            <a:ext cx="2487168" cy="3310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180576" y="2084831"/>
            <a:ext cx="2487168" cy="10972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381744" y="2441448"/>
            <a:ext cx="502920" cy="50292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81744" y="2446020"/>
            <a:ext cx="50292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81744" y="3182112"/>
            <a:ext cx="1965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0B981"/>
                </a:solidFill>
                <a:latin typeface="Aptos"/>
              </a:rPr>
              <a:t>PREPARE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81744" y="3493008"/>
            <a:ext cx="196596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11827"/>
                </a:solidFill>
                <a:latin typeface="Aptos"/>
              </a:rPr>
              <a:t>Practice deliberately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81744" y="4160520"/>
            <a:ext cx="1993392" cy="758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0" b="0" i="0">
                <a:solidFill>
                  <a:srgbClr val="64748B"/>
                </a:solidFill>
                <a:latin typeface="Aptos"/>
              </a:rPr>
              <a:t>Generate role-specific questions and receive scored feedback.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81744" y="4919472"/>
            <a:ext cx="1581912" cy="283464"/>
          </a:xfrm>
          <a:prstGeom prst="roundRect">
            <a:avLst/>
          </a:prstGeom>
          <a:solidFill>
            <a:srgbClr val="F5F7FB"/>
          </a:solidFill>
          <a:ln w="8890">
            <a:solidFill>
              <a:srgbClr val="F5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81744" y="4924044"/>
            <a:ext cx="1581912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1" i="0">
                <a:solidFill>
                  <a:srgbClr val="475569"/>
                </a:solidFill>
                <a:latin typeface="Aptos"/>
              </a:rPr>
              <a:t>ANSWER → COACH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6537960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64748B"/>
                </a:solidFill>
                <a:latin typeface="Aptos"/>
              </a:rPr>
              <a:t>TEAM QUADCORE  •  JOB SEARCH AI AGENT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292840" y="6510528"/>
            <a:ext cx="3840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64748B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solidFill>
              <a:srgbClr val="F5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6583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11827"/>
                </a:solidFill>
                <a:latin typeface="Aptos"/>
              </a:rPr>
              <a:t>Capabl</a:t>
            </a:r>
          </a:p>
        </p:txBody>
      </p:sp>
      <p:sp>
        <p:nvSpPr>
          <p:cNvPr id="4" name="Rectangle 3"/>
          <p:cNvSpPr/>
          <p:nvPr/>
        </p:nvSpPr>
        <p:spPr>
          <a:xfrm>
            <a:off x="1115568" y="361188"/>
            <a:ext cx="100584" cy="100584"/>
          </a:xfrm>
          <a:prstGeom prst="rect">
            <a:avLst/>
          </a:prstGeom>
          <a:solidFill>
            <a:srgbClr val="FFD400"/>
          </a:solidFill>
          <a:ln>
            <a:solidFill>
              <a:srgbClr val="FFD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438912"/>
            <a:ext cx="1417320" cy="283464"/>
          </a:xfrm>
          <a:prstGeom prst="roundRect">
            <a:avLst/>
          </a:prstGeom>
          <a:solidFill>
            <a:srgbClr val="EEF2FF"/>
          </a:solidFill>
          <a:ln w="8890">
            <a:solidFill>
              <a:srgbClr val="EE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443484"/>
            <a:ext cx="141732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4F46E5"/>
                </a:solidFill>
                <a:latin typeface="Aptos"/>
              </a:rPr>
              <a:t>RESUME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868680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11827"/>
                </a:solidFill>
                <a:latin typeface="Aptos"/>
              </a:rPr>
              <a:t>From PDF to a usable career profile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1399032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0" b="0" i="0">
                <a:solidFill>
                  <a:srgbClr val="64748B"/>
                </a:solidFill>
                <a:latin typeface="Aptos"/>
              </a:rPr>
              <a:t>Deterministic extraction establishes the profile; Gemini fills the narrative gap when needed.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1993392"/>
            <a:ext cx="5715000" cy="3986784"/>
          </a:xfrm>
          <a:prstGeom prst="roundRect">
            <a:avLst/>
          </a:prstGeom>
          <a:solidFill>
            <a:srgbClr val="0B1020"/>
          </a:solidFill>
          <a:ln>
            <a:solidFill>
              <a:srgbClr val="0B1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276856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Aptos"/>
              </a:rPr>
              <a:t>Resume Analysis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2249424"/>
            <a:ext cx="1298448" cy="283464"/>
          </a:xfrm>
          <a:prstGeom prst="roundRect">
            <a:avLst/>
          </a:prstGeom>
          <a:solidFill>
            <a:srgbClr val="1C2947"/>
          </a:solidFill>
          <a:ln w="8890">
            <a:solidFill>
              <a:srgbClr val="1C29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2253996"/>
            <a:ext cx="1298448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69" b="1" i="0">
                <a:solidFill>
                  <a:srgbClr val="93C5FD"/>
                </a:solidFill>
                <a:latin typeface="Aptos"/>
              </a:rPr>
              <a:t>PDF UPLOADED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2688" y="2770632"/>
            <a:ext cx="5084064" cy="960120"/>
          </a:xfrm>
          <a:prstGeom prst="roundRect">
            <a:avLst/>
          </a:prstGeom>
          <a:solidFill>
            <a:srgbClr val="171F34"/>
          </a:solidFill>
          <a:ln w="12700"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43000" y="3026664"/>
            <a:ext cx="438912" cy="438912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3031236"/>
            <a:ext cx="438912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Aptos"/>
              </a:rPr>
              <a:t>CV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46504" y="2990088"/>
            <a:ext cx="24688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Aptos"/>
              </a:rPr>
              <a:t>akshay_resume.pdf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53128" y="2953512"/>
            <a:ext cx="1051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8490AA"/>
                </a:solidFill>
                <a:latin typeface="Aptos"/>
              </a:rPr>
              <a:t>ATS HEALTH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3191256"/>
            <a:ext cx="62179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100" b="1" i="0">
                <a:solidFill>
                  <a:srgbClr val="10B981"/>
                </a:solidFill>
                <a:latin typeface="Aptos"/>
              </a:rPr>
              <a:t>78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005072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8490AA"/>
                </a:solidFill>
                <a:latin typeface="Aptos"/>
              </a:rPr>
              <a:t>Extracted skills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" y="4315968"/>
            <a:ext cx="758952" cy="283464"/>
          </a:xfrm>
          <a:prstGeom prst="roundRect">
            <a:avLst/>
          </a:prstGeom>
          <a:solidFill>
            <a:srgbClr val="202A45"/>
          </a:solidFill>
          <a:ln w="8890">
            <a:solidFill>
              <a:srgbClr val="20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320540"/>
            <a:ext cx="758952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1" i="0">
                <a:solidFill>
                  <a:srgbClr val="B8C0FF"/>
                </a:solidFill>
                <a:latin typeface="Aptos"/>
              </a:rPr>
              <a:t>Python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810512" y="4315968"/>
            <a:ext cx="868680" cy="283464"/>
          </a:xfrm>
          <a:prstGeom prst="roundRect">
            <a:avLst/>
          </a:prstGeom>
          <a:solidFill>
            <a:srgbClr val="202A45"/>
          </a:solidFill>
          <a:ln w="8890">
            <a:solidFill>
              <a:srgbClr val="20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10512" y="4320540"/>
            <a:ext cx="86868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1" i="0">
                <a:solidFill>
                  <a:srgbClr val="B8C0FF"/>
                </a:solidFill>
                <a:latin typeface="Aptos"/>
              </a:rPr>
              <a:t>FastAPI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70632" y="4315968"/>
            <a:ext cx="713232" cy="283464"/>
          </a:xfrm>
          <a:prstGeom prst="roundRect">
            <a:avLst/>
          </a:prstGeom>
          <a:solidFill>
            <a:srgbClr val="202A45"/>
          </a:solidFill>
          <a:ln w="8890">
            <a:solidFill>
              <a:srgbClr val="20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70632" y="4320540"/>
            <a:ext cx="713232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1" i="0">
                <a:solidFill>
                  <a:srgbClr val="B8C0FF"/>
                </a:solidFill>
                <a:latin typeface="Aptos"/>
              </a:rPr>
              <a:t>React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75304" y="4315968"/>
            <a:ext cx="1115568" cy="283464"/>
          </a:xfrm>
          <a:prstGeom prst="roundRect">
            <a:avLst/>
          </a:prstGeom>
          <a:solidFill>
            <a:srgbClr val="202A45"/>
          </a:solidFill>
          <a:ln w="8890">
            <a:solidFill>
              <a:srgbClr val="20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75304" y="4320540"/>
            <a:ext cx="1115568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1" i="0">
                <a:solidFill>
                  <a:srgbClr val="B8C0FF"/>
                </a:solidFill>
                <a:latin typeface="Aptos"/>
              </a:rPr>
              <a:t>PostgreSQL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82312" y="4315968"/>
            <a:ext cx="749808" cy="283464"/>
          </a:xfrm>
          <a:prstGeom prst="roundRect">
            <a:avLst/>
          </a:prstGeom>
          <a:solidFill>
            <a:srgbClr val="202A45"/>
          </a:solidFill>
          <a:ln w="8890">
            <a:solidFill>
              <a:srgbClr val="20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82312" y="4320540"/>
            <a:ext cx="749808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1" i="0">
                <a:solidFill>
                  <a:srgbClr val="B8C0FF"/>
                </a:solidFill>
                <a:latin typeface="Aptos"/>
              </a:rPr>
              <a:t>Docker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4828032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8490AA"/>
                </a:solidFill>
                <a:latin typeface="Aptos"/>
              </a:rPr>
              <a:t>Profile summary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5111496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D5DBE9"/>
                </a:solidFill>
                <a:latin typeface="Aptos"/>
              </a:rPr>
              <a:t>Backend-focused engineer with practical experience building API-led products and data workflows.</a:t>
            </a:r>
          </a:p>
        </p:txBody>
      </p:sp>
      <p:sp>
        <p:nvSpPr>
          <p:cNvPr id="32" name="Oval 31"/>
          <p:cNvSpPr/>
          <p:nvPr/>
        </p:nvSpPr>
        <p:spPr>
          <a:xfrm>
            <a:off x="6729984" y="2020824"/>
            <a:ext cx="347472" cy="347472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29984" y="2025395"/>
            <a:ext cx="347472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23760" y="1993392"/>
            <a:ext cx="1920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11827"/>
                </a:solidFill>
                <a:latin typeface="Aptos"/>
              </a:rPr>
              <a:t>Text extraction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23760" y="2276856"/>
            <a:ext cx="393192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4748B"/>
                </a:solidFill>
                <a:latin typeface="Aptos"/>
              </a:rPr>
              <a:t>pdfplumber reads text from PDF resumes; uploads are capped at 5 MB.</a:t>
            </a:r>
          </a:p>
        </p:txBody>
      </p:sp>
      <p:sp>
        <p:nvSpPr>
          <p:cNvPr id="36" name="Oval 35"/>
          <p:cNvSpPr/>
          <p:nvPr/>
        </p:nvSpPr>
        <p:spPr>
          <a:xfrm>
            <a:off x="6729984" y="2980944"/>
            <a:ext cx="347472" cy="34747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29984" y="2985516"/>
            <a:ext cx="347472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23760" y="2953512"/>
            <a:ext cx="1920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11827"/>
                </a:solidFill>
                <a:latin typeface="Aptos"/>
              </a:rPr>
              <a:t>Structured signals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23760" y="3236976"/>
            <a:ext cx="393192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4748B"/>
                </a:solidFill>
                <a:latin typeface="Aptos"/>
              </a:rPr>
              <a:t>Rules identify known skills, education, companies and years of experience.</a:t>
            </a:r>
          </a:p>
        </p:txBody>
      </p:sp>
      <p:sp>
        <p:nvSpPr>
          <p:cNvPr id="40" name="Oval 39"/>
          <p:cNvSpPr/>
          <p:nvPr/>
        </p:nvSpPr>
        <p:spPr>
          <a:xfrm>
            <a:off x="6729984" y="3941064"/>
            <a:ext cx="347472" cy="3474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29984" y="3945636"/>
            <a:ext cx="347472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23760" y="3913632"/>
            <a:ext cx="1920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11827"/>
                </a:solidFill>
                <a:latin typeface="Aptos"/>
              </a:rPr>
              <a:t>ATS health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23760" y="4197096"/>
            <a:ext cx="393192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4748B"/>
                </a:solidFill>
                <a:latin typeface="Aptos"/>
              </a:rPr>
              <a:t>A transparent heuristic scores skills density and profile completeness.</a:t>
            </a:r>
          </a:p>
        </p:txBody>
      </p:sp>
      <p:sp>
        <p:nvSpPr>
          <p:cNvPr id="44" name="Oval 43"/>
          <p:cNvSpPr/>
          <p:nvPr/>
        </p:nvSpPr>
        <p:spPr>
          <a:xfrm>
            <a:off x="6729984" y="4901184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729984" y="4905756"/>
            <a:ext cx="347472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23760" y="4873752"/>
            <a:ext cx="1920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11827"/>
                </a:solidFill>
                <a:latin typeface="Aptos"/>
              </a:rPr>
              <a:t>Stored context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23760" y="5157216"/>
            <a:ext cx="393192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4748B"/>
                </a:solidFill>
                <a:latin typeface="Aptos"/>
              </a:rPr>
              <a:t>Parsed data, raw text and a TF‑IDF vector are persisted with the resume.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729984" y="5586984"/>
            <a:ext cx="4809744" cy="411480"/>
          </a:xfrm>
          <a:prstGeom prst="roundRect">
            <a:avLst/>
          </a:prstGeom>
          <a:solidFill>
            <a:srgbClr val="FFF7E6"/>
          </a:solidFill>
          <a:ln w="12700">
            <a:solidFill>
              <a:srgbClr val="FDE2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931152" y="5701284"/>
            <a:ext cx="4443984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1" i="0">
                <a:solidFill>
                  <a:srgbClr val="8A5A00"/>
                </a:solidFill>
                <a:latin typeface="Aptos"/>
              </a:rPr>
              <a:t>Note: the ATS score is guidance—not a prediction of any employer’s ATS.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" y="6537960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64748B"/>
                </a:solidFill>
                <a:latin typeface="Aptos"/>
              </a:rPr>
              <a:t>TEAM QUADCORE  •  JOB SEARCH AI AGENT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292840" y="6510528"/>
            <a:ext cx="3840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64748B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6583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11827"/>
                </a:solidFill>
                <a:latin typeface="Aptos"/>
              </a:rPr>
              <a:t>Capabl</a:t>
            </a:r>
          </a:p>
        </p:txBody>
      </p:sp>
      <p:sp>
        <p:nvSpPr>
          <p:cNvPr id="4" name="Rectangle 3"/>
          <p:cNvSpPr/>
          <p:nvPr/>
        </p:nvSpPr>
        <p:spPr>
          <a:xfrm>
            <a:off x="1115568" y="361188"/>
            <a:ext cx="100584" cy="100584"/>
          </a:xfrm>
          <a:prstGeom prst="rect">
            <a:avLst/>
          </a:prstGeom>
          <a:solidFill>
            <a:srgbClr val="FFD400"/>
          </a:solidFill>
          <a:ln>
            <a:solidFill>
              <a:srgbClr val="FFD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438912"/>
            <a:ext cx="1417320" cy="283464"/>
          </a:xfrm>
          <a:prstGeom prst="roundRect">
            <a:avLst/>
          </a:prstGeom>
          <a:solidFill>
            <a:srgbClr val="EEF2FF"/>
          </a:solidFill>
          <a:ln w="8890">
            <a:solidFill>
              <a:srgbClr val="EE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443484"/>
            <a:ext cx="141732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4F46E5"/>
                </a:solidFill>
                <a:latin typeface="Aptos"/>
              </a:rPr>
              <a:t>DISCOVERY + GUIDANCE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868680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11827"/>
                </a:solidFill>
                <a:latin typeface="Aptos"/>
              </a:rPr>
              <a:t>Rank the search. Explain the fit.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1399032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0" b="0" i="0">
                <a:solidFill>
                  <a:srgbClr val="64748B"/>
                </a:solidFill>
                <a:latin typeface="Aptos"/>
              </a:rPr>
              <a:t>Search results become decisions when relevance and next actions are visible together.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1984248"/>
            <a:ext cx="3785615" cy="3877056"/>
          </a:xfrm>
          <a:prstGeom prst="roundRect">
            <a:avLst/>
          </a:prstGeom>
          <a:solidFill>
            <a:srgbClr val="0B1020"/>
          </a:solidFill>
          <a:ln>
            <a:solidFill>
              <a:srgbClr val="0B1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286000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8EA0C8"/>
                </a:solidFill>
                <a:latin typeface="Aptos"/>
              </a:rPr>
              <a:t>MATCH PIPELINE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2724912"/>
            <a:ext cx="365760" cy="365760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729484"/>
            <a:ext cx="36576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Aptos"/>
              </a:rPr>
              <a:t>Q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4752" y="2715768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Aptos"/>
              </a:rPr>
              <a:t>Search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32304" y="2715768"/>
            <a:ext cx="15727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A6B0C7"/>
                </a:solidFill>
                <a:latin typeface="Aptos"/>
              </a:rPr>
              <a:t>Role + location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97280" y="3099816"/>
            <a:ext cx="0" cy="310896"/>
          </a:xfrm>
          <a:prstGeom prst="line">
            <a:avLst/>
          </a:prstGeom>
          <a:ln w="19050">
            <a:solidFill>
              <a:srgbClr val="3A46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914400" y="3438144"/>
            <a:ext cx="365760" cy="365760"/>
          </a:xfrm>
          <a:prstGeom prst="ellipse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442715"/>
            <a:ext cx="36576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44752" y="3429000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Aptos"/>
              </a:rPr>
              <a:t>Retrieve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32304" y="3429000"/>
            <a:ext cx="15727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A6B0C7"/>
                </a:solidFill>
                <a:latin typeface="Aptos"/>
              </a:rPr>
              <a:t>Adzuna / mock fallback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97280" y="3813048"/>
            <a:ext cx="0" cy="310896"/>
          </a:xfrm>
          <a:prstGeom prst="line">
            <a:avLst/>
          </a:prstGeom>
          <a:ln w="19050">
            <a:solidFill>
              <a:srgbClr val="3A46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914400" y="4151376"/>
            <a:ext cx="365760" cy="36576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155948"/>
            <a:ext cx="36576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Aptos"/>
              </a:rPr>
              <a:t>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44752" y="4142232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Aptos"/>
              </a:rPr>
              <a:t>Rank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32304" y="4142232"/>
            <a:ext cx="15727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A6B0C7"/>
                </a:solidFill>
                <a:latin typeface="Aptos"/>
              </a:rPr>
              <a:t>TF‑IDF + cosine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097280" y="4526280"/>
            <a:ext cx="0" cy="310896"/>
          </a:xfrm>
          <a:prstGeom prst="line">
            <a:avLst/>
          </a:prstGeom>
          <a:ln w="19050">
            <a:solidFill>
              <a:srgbClr val="3A46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914400" y="4864608"/>
            <a:ext cx="365760" cy="36576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869180"/>
            <a:ext cx="36576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4752" y="4855464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Aptos"/>
              </a:rPr>
              <a:t>Explain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32304" y="4855464"/>
            <a:ext cx="15727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A6B0C7"/>
                </a:solidFill>
                <a:latin typeface="Aptos"/>
              </a:rPr>
              <a:t>Matched skills + gaps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5486400"/>
            <a:ext cx="2359152" cy="283464"/>
          </a:xfrm>
          <a:prstGeom prst="roundRect">
            <a:avLst/>
          </a:prstGeom>
          <a:solidFill>
            <a:srgbClr val="1B2744"/>
          </a:solidFill>
          <a:ln w="8890">
            <a:solidFill>
              <a:srgbClr val="1B2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490972"/>
            <a:ext cx="2359152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40" b="1" i="0">
                <a:solidFill>
                  <a:srgbClr val="A5B4FC"/>
                </a:solidFill>
                <a:latin typeface="Aptos"/>
              </a:rPr>
              <a:t>REDIS CACHE  •  TTL 1 HOUR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27448" y="1984248"/>
            <a:ext cx="6803136" cy="3877056"/>
          </a:xfrm>
          <a:prstGeom prst="roundRect">
            <a:avLst/>
          </a:prstGeom>
          <a:solidFill>
            <a:srgbClr val="F5F7FB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74920" y="233172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11827"/>
                </a:solidFill>
                <a:latin typeface="Aptos"/>
              </a:rPr>
              <a:t>Backend Engineer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74920" y="2688336"/>
            <a:ext cx="274320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4748B"/>
                </a:solidFill>
                <a:latin typeface="Aptos"/>
              </a:rPr>
              <a:t>Razorpay  •  Bengaluru</a:t>
            </a:r>
          </a:p>
        </p:txBody>
      </p:sp>
      <p:sp>
        <p:nvSpPr>
          <p:cNvPr id="35" name="Oval 34"/>
          <p:cNvSpPr/>
          <p:nvPr/>
        </p:nvSpPr>
        <p:spPr>
          <a:xfrm>
            <a:off x="10012680" y="2249424"/>
            <a:ext cx="822960" cy="82296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12680" y="230428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Aptos"/>
              </a:rPr>
              <a:t>82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12680" y="2587752"/>
            <a:ext cx="82296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20" b="1" i="0">
                <a:solidFill>
                  <a:srgbClr val="FFFFFF"/>
                </a:solidFill>
                <a:latin typeface="Aptos"/>
              </a:rPr>
              <a:t>MATCH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074920" y="3127248"/>
            <a:ext cx="6062472" cy="0"/>
          </a:xfrm>
          <a:prstGeom prst="line">
            <a:avLst/>
          </a:prstGeom>
          <a:ln w="12700">
            <a:solidFill>
              <a:srgbClr val="DC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5074920" y="3419856"/>
            <a:ext cx="1051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1" i="0">
                <a:solidFill>
                  <a:srgbClr val="10B981"/>
                </a:solidFill>
                <a:latin typeface="Aptos"/>
              </a:rPr>
              <a:t>MATCHED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74920" y="3703320"/>
            <a:ext cx="731520" cy="283464"/>
          </a:xfrm>
          <a:prstGeom prst="roundRect">
            <a:avLst/>
          </a:prstGeom>
          <a:solidFill>
            <a:srgbClr val="E7F8F1"/>
          </a:solidFill>
          <a:ln w="8890">
            <a:solidFill>
              <a:srgbClr val="E7F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74920" y="3707891"/>
            <a:ext cx="73152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087A5B"/>
                </a:solidFill>
                <a:latin typeface="Aptos"/>
              </a:rPr>
              <a:t>Python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916168" y="3703320"/>
            <a:ext cx="731520" cy="283464"/>
          </a:xfrm>
          <a:prstGeom prst="roundRect">
            <a:avLst/>
          </a:prstGeom>
          <a:solidFill>
            <a:srgbClr val="E7F8F1"/>
          </a:solidFill>
          <a:ln w="8890">
            <a:solidFill>
              <a:srgbClr val="E7F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916168" y="3707891"/>
            <a:ext cx="73152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087A5B"/>
                </a:solidFill>
                <a:latin typeface="Aptos"/>
              </a:rPr>
              <a:t>FastAPI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757416" y="3703320"/>
            <a:ext cx="731520" cy="283464"/>
          </a:xfrm>
          <a:prstGeom prst="roundRect">
            <a:avLst/>
          </a:prstGeom>
          <a:solidFill>
            <a:srgbClr val="E7F8F1"/>
          </a:solidFill>
          <a:ln w="8890">
            <a:solidFill>
              <a:srgbClr val="E7F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757416" y="3707891"/>
            <a:ext cx="73152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087A5B"/>
                </a:solidFill>
                <a:latin typeface="Aptos"/>
              </a:rPr>
              <a:t>REST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18120" y="3419856"/>
            <a:ext cx="1051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1" i="0">
                <a:solidFill>
                  <a:srgbClr val="F59E0B"/>
                </a:solidFill>
                <a:latin typeface="Aptos"/>
              </a:rPr>
              <a:t>SKILL GAPS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818120" y="3703320"/>
            <a:ext cx="731520" cy="283464"/>
          </a:xfrm>
          <a:prstGeom prst="roundRect">
            <a:avLst/>
          </a:prstGeom>
          <a:solidFill>
            <a:srgbClr val="FFF5DF"/>
          </a:solidFill>
          <a:ln w="8890">
            <a:solidFill>
              <a:srgbClr val="FFF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818120" y="3707891"/>
            <a:ext cx="73152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9A6200"/>
                </a:solidFill>
                <a:latin typeface="Aptos"/>
              </a:rPr>
              <a:t>AWS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641080" y="3703320"/>
            <a:ext cx="1078992" cy="283464"/>
          </a:xfrm>
          <a:prstGeom prst="roundRect">
            <a:avLst/>
          </a:prstGeom>
          <a:solidFill>
            <a:srgbClr val="FFF5DF"/>
          </a:solidFill>
          <a:ln w="8890">
            <a:solidFill>
              <a:srgbClr val="FFF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641080" y="3707891"/>
            <a:ext cx="1078992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9A6200"/>
                </a:solidFill>
                <a:latin typeface="Aptos"/>
              </a:rPr>
              <a:t>Kubernetes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74920" y="4315968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1" i="0">
                <a:solidFill>
                  <a:srgbClr val="4F46E5"/>
                </a:solidFill>
                <a:latin typeface="Aptos"/>
              </a:rPr>
              <a:t>AI NEXT ACTIONS</a:t>
            </a:r>
          </a:p>
        </p:txBody>
      </p:sp>
      <p:sp>
        <p:nvSpPr>
          <p:cNvPr id="52" name="Oval 51"/>
          <p:cNvSpPr/>
          <p:nvPr/>
        </p:nvSpPr>
        <p:spPr>
          <a:xfrm>
            <a:off x="5084064" y="4700016"/>
            <a:ext cx="73152" cy="73152"/>
          </a:xfrm>
          <a:prstGeom prst="ellipse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248655" y="4590288"/>
            <a:ext cx="267004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475569"/>
                </a:solidFill>
                <a:latin typeface="Aptos"/>
              </a:rPr>
              <a:t>Tailored improvement suggestions</a:t>
            </a:r>
          </a:p>
        </p:txBody>
      </p:sp>
      <p:sp>
        <p:nvSpPr>
          <p:cNvPr id="54" name="Oval 53"/>
          <p:cNvSpPr/>
          <p:nvPr/>
        </p:nvSpPr>
        <p:spPr>
          <a:xfrm>
            <a:off x="5084064" y="5065776"/>
            <a:ext cx="73152" cy="73152"/>
          </a:xfrm>
          <a:prstGeom prst="ellipse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248655" y="4956048"/>
            <a:ext cx="267004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475569"/>
                </a:solidFill>
                <a:latin typeface="Aptos"/>
              </a:rPr>
              <a:t>Cover-letter draft for the role</a:t>
            </a:r>
          </a:p>
        </p:txBody>
      </p:sp>
      <p:sp>
        <p:nvSpPr>
          <p:cNvPr id="56" name="Oval 55"/>
          <p:cNvSpPr/>
          <p:nvPr/>
        </p:nvSpPr>
        <p:spPr>
          <a:xfrm>
            <a:off x="8110727" y="4700016"/>
            <a:ext cx="73152" cy="73152"/>
          </a:xfrm>
          <a:prstGeom prst="ellipse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275319" y="4590288"/>
            <a:ext cx="248716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475569"/>
                </a:solidFill>
                <a:latin typeface="Aptos"/>
              </a:rPr>
              <a:t>Role-specific interview tips</a:t>
            </a:r>
          </a:p>
        </p:txBody>
      </p:sp>
      <p:sp>
        <p:nvSpPr>
          <p:cNvPr id="58" name="Oval 57"/>
          <p:cNvSpPr/>
          <p:nvPr/>
        </p:nvSpPr>
        <p:spPr>
          <a:xfrm>
            <a:off x="8110727" y="5065776"/>
            <a:ext cx="73152" cy="73152"/>
          </a:xfrm>
          <a:prstGeom prst="ellipse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275319" y="4956048"/>
            <a:ext cx="257860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475569"/>
                </a:solidFill>
                <a:latin typeface="Aptos"/>
              </a:rPr>
              <a:t>Graceful fallback if Gemini fails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02920" y="6537960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64748B"/>
                </a:solidFill>
                <a:latin typeface="Aptos"/>
              </a:rPr>
              <a:t>TEAM QUADCORE  •  JOB SEARCH AI AGENT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292840" y="6510528"/>
            <a:ext cx="3840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64748B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solidFill>
              <a:srgbClr val="F5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6583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11827"/>
                </a:solidFill>
                <a:latin typeface="Aptos"/>
              </a:rPr>
              <a:t>Capabl</a:t>
            </a:r>
          </a:p>
        </p:txBody>
      </p:sp>
      <p:sp>
        <p:nvSpPr>
          <p:cNvPr id="4" name="Rectangle 3"/>
          <p:cNvSpPr/>
          <p:nvPr/>
        </p:nvSpPr>
        <p:spPr>
          <a:xfrm>
            <a:off x="1115568" y="361188"/>
            <a:ext cx="100584" cy="100584"/>
          </a:xfrm>
          <a:prstGeom prst="rect">
            <a:avLst/>
          </a:prstGeom>
          <a:solidFill>
            <a:srgbClr val="FFD400"/>
          </a:solidFill>
          <a:ln>
            <a:solidFill>
              <a:srgbClr val="FFD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438912"/>
            <a:ext cx="1417320" cy="283464"/>
          </a:xfrm>
          <a:prstGeom prst="roundRect">
            <a:avLst/>
          </a:prstGeom>
          <a:solidFill>
            <a:srgbClr val="EEF2FF"/>
          </a:solidFill>
          <a:ln w="8890">
            <a:solidFill>
              <a:srgbClr val="EE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443484"/>
            <a:ext cx="141732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4F46E5"/>
                </a:solidFill>
                <a:latin typeface="Aptos"/>
              </a:rPr>
              <a:t>ACT + PREPARE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868680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11827"/>
                </a:solidFill>
                <a:latin typeface="Aptos"/>
              </a:rPr>
              <a:t>Turn matches into momentum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1399032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0" b="0" i="0">
                <a:solidFill>
                  <a:srgbClr val="64748B"/>
                </a:solidFill>
                <a:latin typeface="Aptos"/>
              </a:rPr>
              <a:t>The workspace continues after discovery: track every application and rehearse for the next conversation.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1975104"/>
            <a:ext cx="548640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267712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475569"/>
                </a:solidFill>
                <a:latin typeface="Aptos"/>
              </a:rPr>
              <a:t>APPLICATION PIPELINE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" y="2660904"/>
            <a:ext cx="1069848" cy="73152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889504"/>
            <a:ext cx="106984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60" b="1" i="0">
                <a:solidFill>
                  <a:srgbClr val="111827"/>
                </a:solidFill>
                <a:latin typeface="Aptos"/>
              </a:rPr>
              <a:t>Saved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" y="3401568"/>
            <a:ext cx="1069848" cy="557784"/>
          </a:xfrm>
          <a:prstGeom prst="roundRect">
            <a:avLst/>
          </a:prstGeom>
          <a:solidFill>
            <a:srgbClr val="F5F7FB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3502152"/>
            <a:ext cx="8869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1" i="0">
                <a:solidFill>
                  <a:srgbClr val="475569"/>
                </a:solidFill>
                <a:latin typeface="Aptos"/>
              </a:rPr>
              <a:t>Data Analyst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" y="4114800"/>
            <a:ext cx="1069848" cy="557784"/>
          </a:xfrm>
          <a:prstGeom prst="roundRect">
            <a:avLst/>
          </a:prstGeom>
          <a:solidFill>
            <a:srgbClr val="F5F7FB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215384"/>
            <a:ext cx="8869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1" i="0">
                <a:solidFill>
                  <a:srgbClr val="475569"/>
                </a:solidFill>
                <a:latin typeface="Aptos"/>
              </a:rPr>
              <a:t>API Engineer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139696" y="2660904"/>
            <a:ext cx="1069848" cy="7315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39696" y="2889504"/>
            <a:ext cx="106984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60" b="1" i="0">
                <a:solidFill>
                  <a:srgbClr val="111827"/>
                </a:solidFill>
                <a:latin typeface="Aptos"/>
              </a:rPr>
              <a:t>Applied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39696" y="3401568"/>
            <a:ext cx="1069848" cy="557784"/>
          </a:xfrm>
          <a:prstGeom prst="roundRect">
            <a:avLst/>
          </a:prstGeom>
          <a:solidFill>
            <a:srgbClr val="F5F7FB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31136" y="3502152"/>
            <a:ext cx="8869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1" i="0">
                <a:solidFill>
                  <a:srgbClr val="475569"/>
                </a:solidFill>
                <a:latin typeface="Aptos"/>
              </a:rPr>
              <a:t>API Engineer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83280" y="2660904"/>
            <a:ext cx="1069848" cy="73152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83280" y="2889504"/>
            <a:ext cx="106984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60" b="1" i="0">
                <a:solidFill>
                  <a:srgbClr val="111827"/>
                </a:solidFill>
                <a:latin typeface="Aptos"/>
              </a:rPr>
              <a:t>Interviewing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83280" y="3401568"/>
            <a:ext cx="1069848" cy="557784"/>
          </a:xfrm>
          <a:prstGeom prst="roundRect">
            <a:avLst/>
          </a:prstGeom>
          <a:solidFill>
            <a:srgbClr val="F5F7FB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74720" y="3502152"/>
            <a:ext cx="8869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1" i="0">
                <a:solidFill>
                  <a:srgbClr val="475569"/>
                </a:solidFill>
                <a:latin typeface="Aptos"/>
              </a:rPr>
              <a:t>Product Dev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26864" y="2660904"/>
            <a:ext cx="1069848" cy="7315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26864" y="2889504"/>
            <a:ext cx="106984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60" b="1" i="0">
                <a:solidFill>
                  <a:srgbClr val="111827"/>
                </a:solidFill>
                <a:latin typeface="Aptos"/>
              </a:rPr>
              <a:t>Offered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626864" y="3401568"/>
            <a:ext cx="1069848" cy="557784"/>
          </a:xfrm>
          <a:prstGeom prst="roundRect">
            <a:avLst/>
          </a:prstGeom>
          <a:solidFill>
            <a:srgbClr val="F5F7FB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18304" y="3502152"/>
            <a:ext cx="8869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1" i="0">
                <a:solidFill>
                  <a:srgbClr val="475569"/>
                </a:solidFill>
                <a:latin typeface="Aptos"/>
              </a:rPr>
              <a:t>Backend Eng.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541264"/>
            <a:ext cx="4892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19" b="0" i="0">
                <a:solidFill>
                  <a:srgbClr val="64748B"/>
                </a:solidFill>
                <a:latin typeface="Aptos"/>
              </a:rPr>
              <a:t>Status updates  •  Notes  •  Match score  •  Direct job link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1975104"/>
            <a:ext cx="5138928" cy="3977639"/>
          </a:xfrm>
          <a:prstGeom prst="roundRect">
            <a:avLst/>
          </a:prstGeom>
          <a:solidFill>
            <a:srgbClr val="0B1020"/>
          </a:solidFill>
          <a:ln>
            <a:solidFill>
              <a:srgbClr val="0B1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11696" y="2267712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8EA0C8"/>
                </a:solidFill>
                <a:latin typeface="Aptos"/>
              </a:rPr>
              <a:t>MOCK INTERVIEW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11696" y="2651760"/>
            <a:ext cx="182880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Aptos"/>
              </a:rPr>
              <a:t>Question 3 of 5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829800" y="2596896"/>
            <a:ext cx="1170432" cy="283464"/>
          </a:xfrm>
          <a:prstGeom prst="roundRect">
            <a:avLst/>
          </a:prstGeom>
          <a:solidFill>
            <a:srgbClr val="202B48"/>
          </a:solidFill>
          <a:ln w="8890">
            <a:solidFill>
              <a:srgbClr val="20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829800" y="2601468"/>
            <a:ext cx="1170432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1" i="0">
                <a:solidFill>
                  <a:srgbClr val="A5B4FC"/>
                </a:solidFill>
                <a:latin typeface="Aptos"/>
              </a:rPr>
              <a:t>TECHNICAL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11696" y="3127248"/>
            <a:ext cx="4343400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Aptos"/>
              </a:rPr>
              <a:t>How would you design a resilient job-search API with cached results?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711696" y="3931920"/>
            <a:ext cx="4498848" cy="713232"/>
          </a:xfrm>
          <a:prstGeom prst="roundRect">
            <a:avLst/>
          </a:prstGeom>
          <a:solidFill>
            <a:srgbClr val="151E34"/>
          </a:solidFill>
          <a:ln w="12700"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31152" y="4151376"/>
            <a:ext cx="40416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BEC7DA"/>
                </a:solidFill>
                <a:latin typeface="Aptos"/>
              </a:rPr>
              <a:t>Answer is evaluated against a role-aware framework.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11696" y="4992624"/>
            <a:ext cx="74980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0B981"/>
                </a:solidFill>
                <a:latin typeface="Aptos"/>
              </a:rPr>
              <a:t>8.4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34072" y="509320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8290AA"/>
                </a:solidFill>
                <a:latin typeface="Aptos"/>
              </a:rPr>
              <a:t>/ 10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0" y="4910328"/>
            <a:ext cx="7772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1" i="0">
                <a:solidFill>
                  <a:srgbClr val="10B981"/>
                </a:solidFill>
                <a:latin typeface="Aptos"/>
              </a:rPr>
              <a:t>Strengths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5175504"/>
            <a:ext cx="10698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D6DCEA"/>
                </a:solidFill>
                <a:latin typeface="Aptos"/>
              </a:rPr>
              <a:t>Clear trade-offs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46920" y="4910328"/>
            <a:ext cx="685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1" i="0">
                <a:solidFill>
                  <a:srgbClr val="F59E0B"/>
                </a:solidFill>
                <a:latin typeface="Aptos"/>
              </a:rPr>
              <a:t>Improve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46920" y="5175504"/>
            <a:ext cx="1143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D6DCEA"/>
                </a:solidFill>
                <a:latin typeface="Aptos"/>
              </a:rPr>
              <a:t>Add metrics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11696" y="5577840"/>
            <a:ext cx="441655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69" b="0" i="0">
                <a:solidFill>
                  <a:srgbClr val="8792AD"/>
                </a:solidFill>
                <a:latin typeface="Aptos"/>
              </a:rPr>
              <a:t>Technical  •  Behavioral  •  Situational  •  HR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6537960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64748B"/>
                </a:solidFill>
                <a:latin typeface="Aptos"/>
              </a:rPr>
              <a:t>TEAM QUADCORE  •  JOB SEARCH AI AGENT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292840" y="6510528"/>
            <a:ext cx="3840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64748B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solidFill>
              <a:srgbClr val="0B1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6583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Aptos"/>
              </a:rPr>
              <a:t>Capabl</a:t>
            </a:r>
          </a:p>
        </p:txBody>
      </p:sp>
      <p:sp>
        <p:nvSpPr>
          <p:cNvPr id="4" name="Rectangle 3"/>
          <p:cNvSpPr/>
          <p:nvPr/>
        </p:nvSpPr>
        <p:spPr>
          <a:xfrm>
            <a:off x="1115568" y="361188"/>
            <a:ext cx="100584" cy="100584"/>
          </a:xfrm>
          <a:prstGeom prst="rect">
            <a:avLst/>
          </a:prstGeom>
          <a:solidFill>
            <a:srgbClr val="FFD400"/>
          </a:solidFill>
          <a:ln>
            <a:solidFill>
              <a:srgbClr val="FFD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438912"/>
            <a:ext cx="1417320" cy="283464"/>
          </a:xfrm>
          <a:prstGeom prst="roundRect">
            <a:avLst/>
          </a:prstGeom>
          <a:solidFill>
            <a:srgbClr val="222A42"/>
          </a:solidFill>
          <a:ln w="8890">
            <a:solidFill>
              <a:srgbClr val="2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443484"/>
            <a:ext cx="141732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A5B4FC"/>
                </a:solidFill>
                <a:latin typeface="Aptos"/>
              </a:rPr>
              <a:t>AGENT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868680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Aptos"/>
              </a:rPr>
              <a:t>A stateful four-node career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1399032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0" b="0" i="0">
                <a:solidFill>
                  <a:srgbClr val="A7B0C4"/>
                </a:solidFill>
                <a:latin typeface="Aptos"/>
              </a:rPr>
              <a:t>LangGraph makes each step explicit, testable and observable.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286000"/>
            <a:ext cx="2432304" cy="2596896"/>
          </a:xfrm>
          <a:prstGeom prst="roundRect">
            <a:avLst/>
          </a:prstGeom>
          <a:solidFill>
            <a:srgbClr val="131C32"/>
          </a:solidFill>
          <a:ln w="12700">
            <a:solidFill>
              <a:srgbClr val="2B3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59536" y="2560320"/>
            <a:ext cx="438912" cy="438912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2564891"/>
            <a:ext cx="438912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3227832"/>
            <a:ext cx="19659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30" b="1" i="0">
                <a:solidFill>
                  <a:srgbClr val="FFFFFF"/>
                </a:solidFill>
                <a:latin typeface="Aptos"/>
              </a:rPr>
              <a:t>PARSE RESUME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3776472"/>
            <a:ext cx="1920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A9B3C9"/>
                </a:solidFill>
                <a:latin typeface="Aptos"/>
              </a:rPr>
              <a:t>raw text
profile + ATS
TF‑IDF vector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332841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 i="0">
                <a:solidFill>
                  <a:srgbClr val="586888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02152" y="2286000"/>
            <a:ext cx="2432304" cy="2596896"/>
          </a:xfrm>
          <a:prstGeom prst="roundRect">
            <a:avLst/>
          </a:prstGeom>
          <a:solidFill>
            <a:srgbClr val="131C32"/>
          </a:solidFill>
          <a:ln w="12700">
            <a:solidFill>
              <a:srgbClr val="2B3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21608" y="2560320"/>
            <a:ext cx="438912" cy="438912"/>
          </a:xfrm>
          <a:prstGeom prst="ellipse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21608" y="2564891"/>
            <a:ext cx="438912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21608" y="3227832"/>
            <a:ext cx="19659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30" b="1" i="0">
                <a:solidFill>
                  <a:srgbClr val="FFFFFF"/>
                </a:solidFill>
                <a:latin typeface="Aptos"/>
              </a:rPr>
              <a:t>SEARCH JOBS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21608" y="3776472"/>
            <a:ext cx="1920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A9B3C9"/>
                </a:solidFill>
                <a:latin typeface="Aptos"/>
              </a:rPr>
              <a:t>Adzuna API
Redis cache
mock fallback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71032" y="332841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 i="0">
                <a:solidFill>
                  <a:srgbClr val="586888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64224" y="2286000"/>
            <a:ext cx="2432304" cy="2596896"/>
          </a:xfrm>
          <a:prstGeom prst="roundRect">
            <a:avLst/>
          </a:prstGeom>
          <a:solidFill>
            <a:srgbClr val="131C32"/>
          </a:solidFill>
          <a:ln w="12700">
            <a:solidFill>
              <a:srgbClr val="2B3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583680" y="2560320"/>
            <a:ext cx="438912" cy="43891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2564891"/>
            <a:ext cx="438912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3227832"/>
            <a:ext cx="19659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30" b="1" i="0">
                <a:solidFill>
                  <a:srgbClr val="FFFFFF"/>
                </a:solidFill>
                <a:latin typeface="Aptos"/>
              </a:rPr>
              <a:t>RANK MATCHES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776472"/>
            <a:ext cx="1920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A9B3C9"/>
                </a:solidFill>
                <a:latin typeface="Aptos"/>
              </a:rPr>
              <a:t>cosine score
matched skills
skill gaps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33104" y="332841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 i="0">
                <a:solidFill>
                  <a:srgbClr val="586888"/>
                </a:solidFill>
                <a:latin typeface="Aptos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26296" y="2286000"/>
            <a:ext cx="2432304" cy="2596896"/>
          </a:xfrm>
          <a:prstGeom prst="roundRect">
            <a:avLst/>
          </a:prstGeom>
          <a:solidFill>
            <a:srgbClr val="131C32"/>
          </a:solidFill>
          <a:ln w="12700">
            <a:solidFill>
              <a:srgbClr val="2B3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445752" y="2560320"/>
            <a:ext cx="438912" cy="43891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45752" y="2564891"/>
            <a:ext cx="438912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45752" y="3227832"/>
            <a:ext cx="19659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30" b="1" i="0">
                <a:solidFill>
                  <a:srgbClr val="FFFFFF"/>
                </a:solidFill>
                <a:latin typeface="Aptos"/>
              </a:rPr>
              <a:t>GENERATE ADVICE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45752" y="3776472"/>
            <a:ext cx="1920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A9B3C9"/>
                </a:solidFill>
                <a:latin typeface="Aptos"/>
              </a:rPr>
              <a:t>Gemini 2.5 Flash
cover letter
interview tips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5257800"/>
            <a:ext cx="10936224" cy="557784"/>
          </a:xfrm>
          <a:prstGeom prst="roundRect">
            <a:avLst/>
          </a:prstGeom>
          <a:solidFill>
            <a:srgbClr val="111B31"/>
          </a:solidFill>
          <a:ln w="12700">
            <a:solidFill>
              <a:srgbClr val="2B3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7824" y="5449824"/>
            <a:ext cx="5943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8EA0C8"/>
                </a:solidFill>
                <a:latin typeface="Aptos"/>
              </a:rPr>
              <a:t>STATE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36192" y="5404104"/>
            <a:ext cx="9052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D3D9E7"/>
                </a:solidFill>
                <a:latin typeface="Aptos"/>
              </a:rPr>
              <a:t>Inputs and outputs accumulate across nodes; errors stop safely, and missing results skip advice.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537960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98A2B3"/>
                </a:solidFill>
                <a:latin typeface="Aptos"/>
              </a:rPr>
              <a:t>TEAM QUADCORE  •  JOB SEARCH AI AGENT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92840" y="6510528"/>
            <a:ext cx="3840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98A2B3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6583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11827"/>
                </a:solidFill>
                <a:latin typeface="Aptos"/>
              </a:rPr>
              <a:t>Capabl</a:t>
            </a:r>
          </a:p>
        </p:txBody>
      </p:sp>
      <p:sp>
        <p:nvSpPr>
          <p:cNvPr id="4" name="Rectangle 3"/>
          <p:cNvSpPr/>
          <p:nvPr/>
        </p:nvSpPr>
        <p:spPr>
          <a:xfrm>
            <a:off x="1115568" y="361188"/>
            <a:ext cx="100584" cy="100584"/>
          </a:xfrm>
          <a:prstGeom prst="rect">
            <a:avLst/>
          </a:prstGeom>
          <a:solidFill>
            <a:srgbClr val="FFD400"/>
          </a:solidFill>
          <a:ln>
            <a:solidFill>
              <a:srgbClr val="FFD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438912"/>
            <a:ext cx="1417320" cy="283464"/>
          </a:xfrm>
          <a:prstGeom prst="roundRect">
            <a:avLst/>
          </a:prstGeom>
          <a:solidFill>
            <a:srgbClr val="EEF2FF"/>
          </a:solidFill>
          <a:ln w="8890">
            <a:solidFill>
              <a:srgbClr val="EE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443484"/>
            <a:ext cx="141732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4F46E5"/>
                </a:solidFill>
                <a:latin typeface="Aptos"/>
              </a:rPr>
              <a:t>SYSTEM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868680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11827"/>
                </a:solidFill>
                <a:latin typeface="Aptos"/>
              </a:rPr>
              <a:t>Decoupled product, data and intelligence layers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1399032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0" b="0" i="0">
                <a:solidFill>
                  <a:srgbClr val="64748B"/>
                </a:solidFill>
                <a:latin typeface="Aptos"/>
              </a:rPr>
              <a:t>A versioned REST API connects the React client to persistent state and external services.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" y="2057400"/>
            <a:ext cx="1993392" cy="345643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340864"/>
            <a:ext cx="1417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4F46E5"/>
                </a:solidFill>
                <a:latin typeface="Aptos"/>
              </a:rPr>
              <a:t>CLIENT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743200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11827"/>
                </a:solidFill>
                <a:latin typeface="Aptos"/>
              </a:rPr>
              <a:t>React 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3072384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4748B"/>
                </a:solidFill>
                <a:latin typeface="Aptos"/>
              </a:rPr>
              <a:t>Vite + Tailwind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7824" y="3538728"/>
            <a:ext cx="1261872" cy="28346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3543300"/>
            <a:ext cx="1261872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1" i="0">
                <a:solidFill>
                  <a:srgbClr val="475569"/>
                </a:solidFill>
                <a:latin typeface="Aptos"/>
              </a:rPr>
              <a:t>Dashboard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7824" y="3867912"/>
            <a:ext cx="1261872" cy="28346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3872484"/>
            <a:ext cx="1261872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1" i="0">
                <a:solidFill>
                  <a:srgbClr val="475569"/>
                </a:solidFill>
                <a:latin typeface="Aptos"/>
              </a:rPr>
              <a:t>Resume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7824" y="4197096"/>
            <a:ext cx="1261872" cy="28346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" y="4201668"/>
            <a:ext cx="1261872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1" i="0">
                <a:solidFill>
                  <a:srgbClr val="475569"/>
                </a:solidFill>
                <a:latin typeface="Aptos"/>
              </a:rPr>
              <a:t>Job search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7824" y="4526280"/>
            <a:ext cx="1261872" cy="28346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" y="4530852"/>
            <a:ext cx="1261872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1" i="0">
                <a:solidFill>
                  <a:srgbClr val="475569"/>
                </a:solidFill>
                <a:latin typeface="Aptos"/>
              </a:rPr>
              <a:t>Saved jobs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7824" y="4855464"/>
            <a:ext cx="1261872" cy="28346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" y="4860036"/>
            <a:ext cx="1261872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1" i="0">
                <a:solidFill>
                  <a:srgbClr val="475569"/>
                </a:solidFill>
                <a:latin typeface="Aptos"/>
              </a:rPr>
              <a:t>Interview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063240" y="2057400"/>
            <a:ext cx="3035808" cy="3456432"/>
          </a:xfrm>
          <a:prstGeom prst="roundRect">
            <a:avLst/>
          </a:prstGeom>
          <a:solidFill>
            <a:srgbClr val="0B1020"/>
          </a:solidFill>
          <a:ln>
            <a:solidFill>
              <a:srgbClr val="0B1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83280" y="2340864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8EA0C8"/>
                </a:solidFill>
                <a:latin typeface="Aptos"/>
              </a:rPr>
              <a:t>APPLICATION API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80" y="274320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Aptos"/>
              </a:rPr>
              <a:t>FastAPI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919472" y="2724912"/>
            <a:ext cx="822960" cy="283464"/>
          </a:xfrm>
          <a:prstGeom prst="roundRect">
            <a:avLst/>
          </a:prstGeom>
          <a:solidFill>
            <a:srgbClr val="202B48"/>
          </a:solidFill>
          <a:ln w="8890">
            <a:solidFill>
              <a:srgbClr val="20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19472" y="2729484"/>
            <a:ext cx="82296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A5B4FC"/>
                </a:solidFill>
                <a:latin typeface="Aptos"/>
              </a:rPr>
              <a:t>/api/v1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01568" y="3346704"/>
            <a:ext cx="7132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1" i="0">
                <a:solidFill>
                  <a:srgbClr val="8290AA"/>
                </a:solidFill>
                <a:latin typeface="Aptos"/>
              </a:rPr>
              <a:t>AUTH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69663" y="3328416"/>
            <a:ext cx="15361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D5DCEB"/>
                </a:solidFill>
                <a:latin typeface="Aptos"/>
              </a:rPr>
              <a:t>JWT + bcrypt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01568" y="3721608"/>
            <a:ext cx="7132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1" i="0">
                <a:solidFill>
                  <a:srgbClr val="8290AA"/>
                </a:solidFill>
                <a:latin typeface="Aptos"/>
              </a:rPr>
              <a:t>RESUME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69663" y="3703320"/>
            <a:ext cx="15361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D5DCEB"/>
                </a:solidFill>
                <a:latin typeface="Aptos"/>
              </a:rPr>
              <a:t>parse + persist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01568" y="4096512"/>
            <a:ext cx="7132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1" i="0">
                <a:solidFill>
                  <a:srgbClr val="8290AA"/>
                </a:solidFill>
                <a:latin typeface="Aptos"/>
              </a:rPr>
              <a:t>MATCH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69663" y="4078224"/>
            <a:ext cx="15361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D5DCEB"/>
                </a:solidFill>
                <a:latin typeface="Aptos"/>
              </a:rPr>
              <a:t>score + advice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01568" y="4471416"/>
            <a:ext cx="7132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1" i="0">
                <a:solidFill>
                  <a:srgbClr val="8290AA"/>
                </a:solidFill>
                <a:latin typeface="Aptos"/>
              </a:rPr>
              <a:t>JOBS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69663" y="4453128"/>
            <a:ext cx="15361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D5DCEB"/>
                </a:solidFill>
                <a:latin typeface="Aptos"/>
              </a:rPr>
              <a:t>search + board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01568" y="4846320"/>
            <a:ext cx="7132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1" i="0">
                <a:solidFill>
                  <a:srgbClr val="8290AA"/>
                </a:solidFill>
                <a:latin typeface="Aptos"/>
              </a:rPr>
              <a:t>INTERVIEW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69663" y="4828032"/>
            <a:ext cx="15361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D5DCEB"/>
                </a:solidFill>
                <a:latin typeface="Aptos"/>
              </a:rPr>
              <a:t>question + evaluate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65392" y="2057400"/>
            <a:ext cx="2048256" cy="3456432"/>
          </a:xfrm>
          <a:prstGeom prst="roundRect">
            <a:avLst/>
          </a:prstGeom>
          <a:solidFill>
            <a:srgbClr val="F5F7FB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0" y="2340864"/>
            <a:ext cx="1417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475569"/>
                </a:solidFill>
                <a:latin typeface="Aptos"/>
              </a:rPr>
              <a:t>STATE</a:t>
            </a:r>
          </a:p>
        </p:txBody>
      </p:sp>
      <p:sp>
        <p:nvSpPr>
          <p:cNvPr id="40" name="Oval 39"/>
          <p:cNvSpPr/>
          <p:nvPr/>
        </p:nvSpPr>
        <p:spPr>
          <a:xfrm>
            <a:off x="6858000" y="2816352"/>
            <a:ext cx="402336" cy="402336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58000" y="2820924"/>
            <a:ext cx="402336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Aptos"/>
              </a:rPr>
              <a:t>DB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88352" y="2807208"/>
            <a:ext cx="96926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11827"/>
                </a:solidFill>
                <a:latin typeface="Aptos"/>
              </a:rPr>
              <a:t>PostgreSQL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0" y="3255264"/>
            <a:ext cx="1417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Aptos"/>
              </a:rPr>
              <a:t>users • resumes • jobs</a:t>
            </a:r>
          </a:p>
        </p:txBody>
      </p:sp>
      <p:sp>
        <p:nvSpPr>
          <p:cNvPr id="44" name="Oval 43"/>
          <p:cNvSpPr/>
          <p:nvPr/>
        </p:nvSpPr>
        <p:spPr>
          <a:xfrm>
            <a:off x="6858000" y="3931920"/>
            <a:ext cx="402336" cy="402336"/>
          </a:xfrm>
          <a:prstGeom prst="ellipse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58000" y="3936491"/>
            <a:ext cx="402336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Aptos"/>
              </a:rPr>
              <a:t>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88352" y="3922776"/>
            <a:ext cx="96926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11827"/>
                </a:solidFill>
                <a:latin typeface="Aptos"/>
              </a:rPr>
              <a:t>Redis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0" y="4370831"/>
            <a:ext cx="1417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Aptos"/>
              </a:rPr>
              <a:t>search cache • 1 hour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070848" y="2057400"/>
            <a:ext cx="2487168" cy="34564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63456" y="2340864"/>
            <a:ext cx="1783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475569"/>
                </a:solidFill>
                <a:latin typeface="Aptos"/>
              </a:rPr>
              <a:t>EXTERNAL SERVICES</a:t>
            </a:r>
          </a:p>
        </p:txBody>
      </p:sp>
      <p:sp>
        <p:nvSpPr>
          <p:cNvPr id="50" name="Oval 49"/>
          <p:cNvSpPr/>
          <p:nvPr/>
        </p:nvSpPr>
        <p:spPr>
          <a:xfrm>
            <a:off x="9363456" y="2852928"/>
            <a:ext cx="438912" cy="438912"/>
          </a:xfrm>
          <a:prstGeom prst="ellipse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363456" y="2857500"/>
            <a:ext cx="438912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39528" y="2852928"/>
            <a:ext cx="1325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11827"/>
                </a:solidFill>
                <a:latin typeface="Aptos"/>
              </a:rPr>
              <a:t>Adzuna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939528" y="3163824"/>
            <a:ext cx="124358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0" i="0">
                <a:solidFill>
                  <a:srgbClr val="64748B"/>
                </a:solidFill>
                <a:latin typeface="Aptos"/>
              </a:rPr>
              <a:t>job listings</a:t>
            </a:r>
          </a:p>
        </p:txBody>
      </p:sp>
      <p:sp>
        <p:nvSpPr>
          <p:cNvPr id="54" name="Oval 53"/>
          <p:cNvSpPr/>
          <p:nvPr/>
        </p:nvSpPr>
        <p:spPr>
          <a:xfrm>
            <a:off x="9363456" y="4059936"/>
            <a:ext cx="438912" cy="43891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363456" y="4064508"/>
            <a:ext cx="438912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ptos"/>
              </a:rPr>
              <a:t>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939528" y="4059936"/>
            <a:ext cx="1325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11827"/>
                </a:solidFill>
                <a:latin typeface="Aptos"/>
              </a:rPr>
              <a:t>Gemini 2.5 Flash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939528" y="4370832"/>
            <a:ext cx="124358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0" i="0">
                <a:solidFill>
                  <a:srgbClr val="64748B"/>
                </a:solidFill>
                <a:latin typeface="Aptos"/>
              </a:rPr>
              <a:t>advice + interviews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2606040" y="3703320"/>
            <a:ext cx="457200" cy="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2715768" y="3511296"/>
            <a:ext cx="2560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64748B"/>
                </a:solidFill>
                <a:latin typeface="Aptos"/>
              </a:rPr>
              <a:t>→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6099048" y="3703320"/>
            <a:ext cx="466344" cy="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6208776" y="3511296"/>
            <a:ext cx="2560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64748B"/>
                </a:solidFill>
                <a:latin typeface="Aptos"/>
              </a:rPr>
              <a:t>→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8613648" y="3703320"/>
            <a:ext cx="457200" cy="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8723376" y="3511296"/>
            <a:ext cx="2560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64748B"/>
                </a:solidFill>
                <a:latin typeface="Aptos"/>
              </a:rPr>
              <a:t>→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02920" y="6537960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64748B"/>
                </a:solidFill>
                <a:latin typeface="Aptos"/>
              </a:rPr>
              <a:t>TEAM QUADCORE  •  JOB SEARCH AI AGENT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292840" y="6510528"/>
            <a:ext cx="3840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64748B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solidFill>
              <a:srgbClr val="F5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6583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11827"/>
                </a:solidFill>
                <a:latin typeface="Aptos"/>
              </a:rPr>
              <a:t>Capabl</a:t>
            </a:r>
          </a:p>
        </p:txBody>
      </p:sp>
      <p:sp>
        <p:nvSpPr>
          <p:cNvPr id="4" name="Rectangle 3"/>
          <p:cNvSpPr/>
          <p:nvPr/>
        </p:nvSpPr>
        <p:spPr>
          <a:xfrm>
            <a:off x="1115568" y="361188"/>
            <a:ext cx="100584" cy="100584"/>
          </a:xfrm>
          <a:prstGeom prst="rect">
            <a:avLst/>
          </a:prstGeom>
          <a:solidFill>
            <a:srgbClr val="FFD400"/>
          </a:solidFill>
          <a:ln>
            <a:solidFill>
              <a:srgbClr val="FFD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438912"/>
            <a:ext cx="1417320" cy="283464"/>
          </a:xfrm>
          <a:prstGeom prst="roundRect">
            <a:avLst/>
          </a:prstGeom>
          <a:solidFill>
            <a:srgbClr val="EEF2FF"/>
          </a:solidFill>
          <a:ln w="8890">
            <a:solidFill>
              <a:srgbClr val="EE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443484"/>
            <a:ext cx="141732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4F46E5"/>
                </a:solidFill>
                <a:latin typeface="Aptos"/>
              </a:rPr>
              <a:t>ENGINEERING SNAPSHOT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868680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11827"/>
                </a:solidFill>
                <a:latin typeface="Aptos"/>
              </a:rPr>
              <a:t>What is built—and what gates production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1399032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0" b="0" i="0">
                <a:solidFill>
                  <a:srgbClr val="64748B"/>
                </a:solidFill>
                <a:latin typeface="Aptos"/>
              </a:rPr>
              <a:t>The current codebase is feature-complete for local demonstration, with explicit hardening work documented.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2011680"/>
            <a:ext cx="3456432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2249424"/>
            <a:ext cx="777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0B981"/>
                </a:solidFill>
                <a:latin typeface="Aptos"/>
              </a:rPr>
              <a:t>53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55064" y="2276856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11827"/>
                </a:solidFill>
                <a:latin typeface="Aptos"/>
              </a:rPr>
              <a:t>backend tests passing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2880360"/>
            <a:ext cx="2944368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9" b="0" i="0">
                <a:solidFill>
                  <a:srgbClr val="64748B"/>
                </a:solidFill>
                <a:latin typeface="Aptos"/>
              </a:rPr>
              <a:t>Agent, auth, interview, jobs, matching, resume parsing and users.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98264" y="2011680"/>
            <a:ext cx="3456432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26864" y="2249424"/>
            <a:ext cx="777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2563EB"/>
                </a:solidFill>
                <a:latin typeface="Aptos"/>
              </a:rPr>
              <a:t>19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31536" y="2276856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11827"/>
                </a:solidFill>
                <a:latin typeface="Aptos"/>
              </a:rPr>
              <a:t>versioned API routes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6864" y="2880360"/>
            <a:ext cx="2944368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9" b="0" i="0">
                <a:solidFill>
                  <a:srgbClr val="64748B"/>
                </a:solidFill>
                <a:latin typeface="Aptos"/>
              </a:rPr>
              <a:t>FastAPI endpoints across agent, auth, interview, jobs, match, resume and users.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74736" y="2011680"/>
            <a:ext cx="3456432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03336" y="2249424"/>
            <a:ext cx="777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7C3AED"/>
                </a:solidFill>
                <a:latin typeface="Aptos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08008" y="2276856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11827"/>
                </a:solidFill>
                <a:latin typeface="Aptos"/>
              </a:rPr>
              <a:t>product workspaces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03336" y="2880360"/>
            <a:ext cx="2944368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9" b="0" i="0">
                <a:solidFill>
                  <a:srgbClr val="64748B"/>
                </a:solidFill>
                <a:latin typeface="Aptos"/>
              </a:rPr>
              <a:t>Dashboard, resume, search, saved jobs and mock interview.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" y="3931920"/>
            <a:ext cx="6620256" cy="1901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4224528"/>
            <a:ext cx="1691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475569"/>
                </a:solidFill>
                <a:latin typeface="Aptos"/>
              </a:rPr>
              <a:t>DEPLOYMENT PATH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" y="4599432"/>
            <a:ext cx="84124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30" b="1" i="0">
                <a:solidFill>
                  <a:srgbClr val="111827"/>
                </a:solidFill>
                <a:latin typeface="Aptos"/>
              </a:rPr>
              <a:t>Frontend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55648" y="4599432"/>
            <a:ext cx="182880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64748B"/>
                </a:solidFill>
                <a:latin typeface="Aptos"/>
              </a:rPr>
              <a:t>Vercel  •  npm build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" y="4956048"/>
            <a:ext cx="84124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30" b="1" i="0">
                <a:solidFill>
                  <a:srgbClr val="111827"/>
                </a:solidFill>
                <a:latin typeface="Aptos"/>
              </a:rPr>
              <a:t>Backend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55648" y="4956048"/>
            <a:ext cx="228600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64748B"/>
                </a:solidFill>
                <a:latin typeface="Aptos"/>
              </a:rPr>
              <a:t>Docker  •  Railway config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" y="5312664"/>
            <a:ext cx="84124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30" b="1" i="0">
                <a:solidFill>
                  <a:srgbClr val="111827"/>
                </a:solidFill>
                <a:latin typeface="Aptos"/>
              </a:rPr>
              <a:t>Local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55648" y="5312664"/>
            <a:ext cx="347472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64748B"/>
                </a:solidFill>
                <a:latin typeface="Aptos"/>
              </a:rPr>
              <a:t>Docker Compose  •  PostgreSQL  •  Redis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79792" y="3931920"/>
            <a:ext cx="4078224" cy="1901952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54112" y="4224528"/>
            <a:ext cx="1691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9A5A00"/>
                </a:solidFill>
                <a:latin typeface="Aptos"/>
              </a:rPr>
              <a:t>PRODUCTION GATES</a:t>
            </a:r>
          </a:p>
        </p:txBody>
      </p:sp>
      <p:sp>
        <p:nvSpPr>
          <p:cNvPr id="31" name="Oval 30"/>
          <p:cNvSpPr/>
          <p:nvPr/>
        </p:nvSpPr>
        <p:spPr>
          <a:xfrm>
            <a:off x="7754112" y="4700016"/>
            <a:ext cx="73152" cy="7315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18704" y="4590288"/>
            <a:ext cx="321868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90" b="0" i="0">
                <a:solidFill>
                  <a:srgbClr val="475569"/>
                </a:solidFill>
                <a:latin typeface="Aptos"/>
              </a:rPr>
              <a:t>Enforce ownership checks on data routes</a:t>
            </a:r>
          </a:p>
        </p:txBody>
      </p:sp>
      <p:sp>
        <p:nvSpPr>
          <p:cNvPr id="33" name="Oval 32"/>
          <p:cNvSpPr/>
          <p:nvPr/>
        </p:nvSpPr>
        <p:spPr>
          <a:xfrm>
            <a:off x="7754112" y="5065776"/>
            <a:ext cx="73152" cy="7315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8704" y="4956048"/>
            <a:ext cx="321868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90" b="0" i="0">
                <a:solidFill>
                  <a:srgbClr val="475569"/>
                </a:solidFill>
                <a:latin typeface="Aptos"/>
              </a:rPr>
              <a:t>Require a strong secret + restrict CORS</a:t>
            </a:r>
          </a:p>
        </p:txBody>
      </p:sp>
      <p:sp>
        <p:nvSpPr>
          <p:cNvPr id="35" name="Oval 34"/>
          <p:cNvSpPr/>
          <p:nvPr/>
        </p:nvSpPr>
        <p:spPr>
          <a:xfrm>
            <a:off x="7754112" y="5431536"/>
            <a:ext cx="73152" cy="7315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18704" y="5321807"/>
            <a:ext cx="321868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90" b="0" i="0">
                <a:solidFill>
                  <a:srgbClr val="475569"/>
                </a:solidFill>
                <a:latin typeface="Aptos"/>
              </a:rPr>
              <a:t>Align backend host config and migrate Gemini SDK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537960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64748B"/>
                </a:solidFill>
                <a:latin typeface="Aptos"/>
              </a:rPr>
              <a:t>TEAM QUADCORE  •  JOB SEARCH AI AGENT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92840" y="6510528"/>
            <a:ext cx="3840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64748B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solidFill>
              <a:srgbClr val="0B1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6583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Aptos"/>
              </a:rPr>
              <a:t>Capabl</a:t>
            </a:r>
          </a:p>
        </p:txBody>
      </p:sp>
      <p:sp>
        <p:nvSpPr>
          <p:cNvPr id="4" name="Rectangle 3"/>
          <p:cNvSpPr/>
          <p:nvPr/>
        </p:nvSpPr>
        <p:spPr>
          <a:xfrm>
            <a:off x="1115568" y="361188"/>
            <a:ext cx="100584" cy="100584"/>
          </a:xfrm>
          <a:prstGeom prst="rect">
            <a:avLst/>
          </a:prstGeom>
          <a:solidFill>
            <a:srgbClr val="FFD400"/>
          </a:solidFill>
          <a:ln>
            <a:solidFill>
              <a:srgbClr val="FFD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438912"/>
            <a:ext cx="1417320" cy="283464"/>
          </a:xfrm>
          <a:prstGeom prst="roundRect">
            <a:avLst/>
          </a:prstGeom>
          <a:solidFill>
            <a:srgbClr val="222A42"/>
          </a:solidFill>
          <a:ln w="8890">
            <a:solidFill>
              <a:srgbClr val="2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443484"/>
            <a:ext cx="141732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A5B4FC"/>
                </a:solidFill>
                <a:latin typeface="Aptos"/>
              </a:rPr>
              <a:t>ROADMAP + CLOSE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868680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Aptos"/>
              </a:rPr>
              <a:t>A strong foundation for a smarter career loop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1399032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0" b="0" i="0">
                <a:solidFill>
                  <a:srgbClr val="A7B0C4"/>
                </a:solidFill>
                <a:latin typeface="Aptos"/>
              </a:rPr>
              <a:t>The product already connects context across the journey; the next work improves trust, intelligence and reach.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2139696"/>
            <a:ext cx="3438144" cy="3081528"/>
          </a:xfrm>
          <a:prstGeom prst="roundRect">
            <a:avLst/>
          </a:prstGeom>
          <a:solidFill>
            <a:srgbClr val="131C32"/>
          </a:solidFill>
          <a:ln w="12700">
            <a:solidFill>
              <a:srgbClr val="2B3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50392" y="2450592"/>
            <a:ext cx="658368" cy="283464"/>
          </a:xfrm>
          <a:prstGeom prst="roundRect">
            <a:avLst/>
          </a:prstGeom>
          <a:solidFill>
            <a:srgbClr val="202B48"/>
          </a:solidFill>
          <a:ln w="8890">
            <a:solidFill>
              <a:srgbClr val="20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2455164"/>
            <a:ext cx="658368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40" b="1" i="0">
                <a:solidFill>
                  <a:srgbClr val="2563EB"/>
                </a:solidFill>
                <a:latin typeface="Aptos"/>
              </a:rPr>
              <a:t>NOW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297180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Aptos"/>
              </a:rPr>
              <a:t>Demo-ready</a:t>
            </a:r>
          </a:p>
        </p:txBody>
      </p:sp>
      <p:sp>
        <p:nvSpPr>
          <p:cNvPr id="13" name="Oval 12"/>
          <p:cNvSpPr/>
          <p:nvPr/>
        </p:nvSpPr>
        <p:spPr>
          <a:xfrm>
            <a:off x="850392" y="3648456"/>
            <a:ext cx="73152" cy="73152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14984" y="3538728"/>
            <a:ext cx="2624327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0" i="0">
                <a:solidFill>
                  <a:srgbClr val="B6C0D4"/>
                </a:solidFill>
                <a:latin typeface="Aptos"/>
              </a:rPr>
              <a:t>Resume intelligence</a:t>
            </a:r>
          </a:p>
        </p:txBody>
      </p:sp>
      <p:sp>
        <p:nvSpPr>
          <p:cNvPr id="15" name="Oval 14"/>
          <p:cNvSpPr/>
          <p:nvPr/>
        </p:nvSpPr>
        <p:spPr>
          <a:xfrm>
            <a:off x="850392" y="4032504"/>
            <a:ext cx="73152" cy="73152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14984" y="3922776"/>
            <a:ext cx="2624327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0" i="0">
                <a:solidFill>
                  <a:srgbClr val="B6C0D4"/>
                </a:solidFill>
                <a:latin typeface="Aptos"/>
              </a:rPr>
              <a:t>Ranked discovery</a:t>
            </a:r>
          </a:p>
        </p:txBody>
      </p:sp>
      <p:sp>
        <p:nvSpPr>
          <p:cNvPr id="17" name="Oval 16"/>
          <p:cNvSpPr/>
          <p:nvPr/>
        </p:nvSpPr>
        <p:spPr>
          <a:xfrm>
            <a:off x="850392" y="4416552"/>
            <a:ext cx="73152" cy="73152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14984" y="4306824"/>
            <a:ext cx="2624327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0" i="0">
                <a:solidFill>
                  <a:srgbClr val="B6C0D4"/>
                </a:solidFill>
                <a:latin typeface="Aptos"/>
              </a:rPr>
              <a:t>Application board</a:t>
            </a:r>
          </a:p>
        </p:txBody>
      </p:sp>
      <p:sp>
        <p:nvSpPr>
          <p:cNvPr id="19" name="Oval 18"/>
          <p:cNvSpPr/>
          <p:nvPr/>
        </p:nvSpPr>
        <p:spPr>
          <a:xfrm>
            <a:off x="850392" y="4800600"/>
            <a:ext cx="73152" cy="73152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690872"/>
            <a:ext cx="2624327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0" i="0">
                <a:solidFill>
                  <a:srgbClr val="B6C0D4"/>
                </a:solidFill>
                <a:latin typeface="Aptos"/>
              </a:rPr>
              <a:t>AI mock interviews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98264" y="2139696"/>
            <a:ext cx="3438144" cy="3081528"/>
          </a:xfrm>
          <a:prstGeom prst="roundRect">
            <a:avLst/>
          </a:prstGeom>
          <a:solidFill>
            <a:srgbClr val="131C32"/>
          </a:solidFill>
          <a:ln w="12700">
            <a:solidFill>
              <a:srgbClr val="2B3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626864" y="2450592"/>
            <a:ext cx="658368" cy="283464"/>
          </a:xfrm>
          <a:prstGeom prst="roundRect">
            <a:avLst/>
          </a:prstGeom>
          <a:solidFill>
            <a:srgbClr val="202B48"/>
          </a:solidFill>
          <a:ln w="8890">
            <a:solidFill>
              <a:srgbClr val="20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26864" y="2455164"/>
            <a:ext cx="658368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40" b="1" i="0">
                <a:solidFill>
                  <a:srgbClr val="F59E0B"/>
                </a:solidFill>
                <a:latin typeface="Aptos"/>
              </a:rPr>
              <a:t>NEXT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26864" y="297180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Aptos"/>
              </a:rPr>
              <a:t>Production-safe</a:t>
            </a:r>
          </a:p>
        </p:txBody>
      </p:sp>
      <p:sp>
        <p:nvSpPr>
          <p:cNvPr id="25" name="Oval 24"/>
          <p:cNvSpPr/>
          <p:nvPr/>
        </p:nvSpPr>
        <p:spPr>
          <a:xfrm>
            <a:off x="4626864" y="3648456"/>
            <a:ext cx="73152" cy="7315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91455" y="3538728"/>
            <a:ext cx="2624327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0" i="0">
                <a:solidFill>
                  <a:srgbClr val="B6C0D4"/>
                </a:solidFill>
                <a:latin typeface="Aptos"/>
              </a:rPr>
              <a:t>Route ownership</a:t>
            </a:r>
          </a:p>
        </p:txBody>
      </p:sp>
      <p:sp>
        <p:nvSpPr>
          <p:cNvPr id="27" name="Oval 26"/>
          <p:cNvSpPr/>
          <p:nvPr/>
        </p:nvSpPr>
        <p:spPr>
          <a:xfrm>
            <a:off x="4626864" y="4032504"/>
            <a:ext cx="73152" cy="7315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91455" y="3922776"/>
            <a:ext cx="2624327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0" i="0">
                <a:solidFill>
                  <a:srgbClr val="B6C0D4"/>
                </a:solidFill>
                <a:latin typeface="Aptos"/>
              </a:rPr>
              <a:t>Secret + CORS policy</a:t>
            </a:r>
          </a:p>
        </p:txBody>
      </p:sp>
      <p:sp>
        <p:nvSpPr>
          <p:cNvPr id="29" name="Oval 28"/>
          <p:cNvSpPr/>
          <p:nvPr/>
        </p:nvSpPr>
        <p:spPr>
          <a:xfrm>
            <a:off x="4626864" y="4416552"/>
            <a:ext cx="73152" cy="7315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91455" y="4306824"/>
            <a:ext cx="2624327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0" i="0">
                <a:solidFill>
                  <a:srgbClr val="B6C0D4"/>
                </a:solidFill>
                <a:latin typeface="Aptos"/>
              </a:rPr>
              <a:t>SDK migration</a:t>
            </a:r>
          </a:p>
        </p:txBody>
      </p:sp>
      <p:sp>
        <p:nvSpPr>
          <p:cNvPr id="31" name="Oval 30"/>
          <p:cNvSpPr/>
          <p:nvPr/>
        </p:nvSpPr>
        <p:spPr>
          <a:xfrm>
            <a:off x="4626864" y="4800600"/>
            <a:ext cx="73152" cy="7315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91455" y="4690872"/>
            <a:ext cx="2624327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0" i="0">
                <a:solidFill>
                  <a:srgbClr val="B6C0D4"/>
                </a:solidFill>
                <a:latin typeface="Aptos"/>
              </a:rPr>
              <a:t>Deployment alignment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74736" y="2139696"/>
            <a:ext cx="3438144" cy="3081528"/>
          </a:xfrm>
          <a:prstGeom prst="roundRect">
            <a:avLst/>
          </a:prstGeom>
          <a:solidFill>
            <a:srgbClr val="131C32"/>
          </a:solidFill>
          <a:ln w="12700">
            <a:solidFill>
              <a:srgbClr val="2B3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403336" y="2450592"/>
            <a:ext cx="658368" cy="283464"/>
          </a:xfrm>
          <a:prstGeom prst="roundRect">
            <a:avLst/>
          </a:prstGeom>
          <a:solidFill>
            <a:srgbClr val="202B48"/>
          </a:solidFill>
          <a:ln w="8890">
            <a:solidFill>
              <a:srgbClr val="20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03336" y="2455164"/>
            <a:ext cx="658368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40" b="1" i="0">
                <a:solidFill>
                  <a:srgbClr val="10B981"/>
                </a:solidFill>
                <a:latin typeface="Aptos"/>
              </a:rPr>
              <a:t>LATER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03336" y="297180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Aptos"/>
              </a:rPr>
              <a:t>Learning system</a:t>
            </a:r>
          </a:p>
        </p:txBody>
      </p:sp>
      <p:sp>
        <p:nvSpPr>
          <p:cNvPr id="37" name="Oval 36"/>
          <p:cNvSpPr/>
          <p:nvPr/>
        </p:nvSpPr>
        <p:spPr>
          <a:xfrm>
            <a:off x="8403336" y="3648456"/>
            <a:ext cx="73152" cy="7315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67928" y="3538728"/>
            <a:ext cx="2624327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0" i="0">
                <a:solidFill>
                  <a:srgbClr val="B6C0D4"/>
                </a:solidFill>
                <a:latin typeface="Aptos"/>
              </a:rPr>
              <a:t>Richer embeddings</a:t>
            </a:r>
          </a:p>
        </p:txBody>
      </p:sp>
      <p:sp>
        <p:nvSpPr>
          <p:cNvPr id="39" name="Oval 38"/>
          <p:cNvSpPr/>
          <p:nvPr/>
        </p:nvSpPr>
        <p:spPr>
          <a:xfrm>
            <a:off x="8403336" y="4032504"/>
            <a:ext cx="73152" cy="7315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67928" y="3922776"/>
            <a:ext cx="2624327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0" i="0">
                <a:solidFill>
                  <a:srgbClr val="B6C0D4"/>
                </a:solidFill>
                <a:latin typeface="Aptos"/>
              </a:rPr>
              <a:t>Feedback-driven ranking</a:t>
            </a:r>
          </a:p>
        </p:txBody>
      </p:sp>
      <p:sp>
        <p:nvSpPr>
          <p:cNvPr id="41" name="Oval 40"/>
          <p:cNvSpPr/>
          <p:nvPr/>
        </p:nvSpPr>
        <p:spPr>
          <a:xfrm>
            <a:off x="8403336" y="4416552"/>
            <a:ext cx="73152" cy="7315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67928" y="4306824"/>
            <a:ext cx="2624327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0" i="0">
                <a:solidFill>
                  <a:srgbClr val="B6C0D4"/>
                </a:solidFill>
                <a:latin typeface="Aptos"/>
              </a:rPr>
              <a:t>Notifications</a:t>
            </a:r>
          </a:p>
        </p:txBody>
      </p:sp>
      <p:sp>
        <p:nvSpPr>
          <p:cNvPr id="43" name="Oval 42"/>
          <p:cNvSpPr/>
          <p:nvPr/>
        </p:nvSpPr>
        <p:spPr>
          <a:xfrm>
            <a:off x="8403336" y="4800600"/>
            <a:ext cx="73152" cy="7315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67928" y="4690872"/>
            <a:ext cx="2624327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0" i="0">
                <a:solidFill>
                  <a:srgbClr val="B6C0D4"/>
                </a:solidFill>
                <a:latin typeface="Aptos"/>
              </a:rPr>
              <a:t>Outcome analytics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0936" y="5586984"/>
            <a:ext cx="75895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B9C3D8"/>
                </a:solidFill>
                <a:latin typeface="Aptos"/>
              </a:rPr>
              <a:t>CareerAI turns a resume from a document into </a:t>
            </a:r>
            <a:r>
              <a:rPr sz="1600" b="1">
                <a:solidFill>
                  <a:srgbClr val="FFFFFF"/>
                </a:solidFill>
                <a:latin typeface="Aptos"/>
              </a:rPr>
              <a:t>shared context for every career decision.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113264" y="5532120"/>
            <a:ext cx="1417320" cy="283464"/>
          </a:xfrm>
          <a:prstGeom prst="roundRect">
            <a:avLst/>
          </a:prstGeom>
          <a:solidFill>
            <a:srgbClr val="4F46E5"/>
          </a:solidFill>
          <a:ln w="889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113264" y="5536692"/>
            <a:ext cx="141732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" y="6537960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98A2B3"/>
                </a:solidFill>
                <a:latin typeface="Aptos"/>
              </a:rPr>
              <a:t>TEAM QUADCORE  •  JOB SEARCH AI AGENT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292840" y="6510528"/>
            <a:ext cx="3840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98A2B3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Job Search AI Agent — Team QuadCore</dc:title>
  <dc:subject>Capabl project presentation updated from repository implementation</dc:subject>
  <dc:creator>Team QuadCore</dc:creator>
  <cp:keywords/>
  <dc:description>Generated as an editable 16:9 deck from the current repository state.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